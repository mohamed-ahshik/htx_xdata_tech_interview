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63" r:id="rId3"/>
    <p:sldId id="257" r:id="rId4"/>
    <p:sldId id="274" r:id="rId5"/>
    <p:sldId id="258" r:id="rId6"/>
    <p:sldId id="275" r:id="rId7"/>
    <p:sldId id="259" r:id="rId8"/>
    <p:sldId id="276" r:id="rId9"/>
    <p:sldId id="277" r:id="rId10"/>
    <p:sldId id="278" r:id="rId11"/>
    <p:sldId id="279" r:id="rId12"/>
    <p:sldId id="26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/>
    <p:restoredTop sz="73937"/>
  </p:normalViewPr>
  <p:slideViewPr>
    <p:cSldViewPr snapToGrid="0">
      <p:cViewPr>
        <p:scale>
          <a:sx n="95" d="100"/>
          <a:sy n="95" d="100"/>
        </p:scale>
        <p:origin x="9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E968B-CB6F-454A-9BB3-A206672B1729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83A4E-3A99-DF4B-A6EF-11DE8D317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2540-E83C-4645-B3AB-97EB3D3E6D5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2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510F-7150-1B4E-9D8A-F5939B5D6C2E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0E8D4-AAB0-5449-A2EC-CFC0E73579D9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80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CE20-67DA-CC42-B51F-D0415DCB9F15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DE59-0C6A-D444-A9DF-5CE404CD9A4C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9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0C23-FF5A-3D4F-BA36-A7B4DF1125D6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33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B02B-6988-9F4B-AB5C-598D4934F974}" type="datetime1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2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6A91-8780-8642-B29A-3B0A73D7FE8A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2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CA3C-A015-DB4A-91CA-848651C48243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7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88FC6-69E3-AA42-883C-BCEF322AE83B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9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8A256-E823-4C45-AAD9-63503146B73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741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67A73C0D-D064-0D4B-9AE4-79918C6744B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9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B38EF0-420A-A197-B1E6-D3C1FE579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/>
              <a:t>Technical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DB425-F3F6-5A96-2889-D9932D9E1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dirty="0"/>
              <a:t>HTX </a:t>
            </a:r>
            <a:r>
              <a:rPr lang="en-US" dirty="0" err="1"/>
              <a:t>Xdata</a:t>
            </a:r>
            <a:endParaRPr lang="en-US" dirty="0"/>
          </a:p>
          <a:p>
            <a:r>
              <a:rPr lang="en-US" dirty="0"/>
              <a:t>22 December 2025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E771C-43F0-2A17-26F9-F72AA5E2D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69" r="27997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5453B-E32D-B659-DF2B-544047A6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0B586-B653-4DCD-F84E-7205931A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86741"/>
            <a:ext cx="10890929" cy="1097280"/>
          </a:xfrm>
        </p:spPr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FAFC2-EDE2-1447-D2DD-962D039E1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84021"/>
            <a:ext cx="10890928" cy="3566160"/>
          </a:xfrm>
        </p:spPr>
        <p:txBody>
          <a:bodyPr>
            <a:normAutofit/>
          </a:bodyPr>
          <a:lstStyle/>
          <a:p>
            <a:r>
              <a:rPr lang="en-US" sz="1800" dirty="0"/>
              <a:t>Exploratory Data Analysis</a:t>
            </a:r>
          </a:p>
          <a:p>
            <a:r>
              <a:rPr lang="en-US" sz="1800" dirty="0"/>
              <a:t>Assumptions</a:t>
            </a:r>
          </a:p>
          <a:p>
            <a:r>
              <a:rPr lang="en-US" sz="1800" dirty="0"/>
              <a:t>Model Prediction 1 </a:t>
            </a:r>
          </a:p>
          <a:p>
            <a:r>
              <a:rPr lang="en-US" sz="1800" dirty="0"/>
              <a:t>Model Prediction 2 </a:t>
            </a:r>
          </a:p>
          <a:p>
            <a:r>
              <a:rPr lang="en-US" sz="1800" dirty="0"/>
              <a:t>Link Analysis 1 </a:t>
            </a:r>
          </a:p>
          <a:p>
            <a:r>
              <a:rPr lang="en-US" sz="1800" dirty="0"/>
              <a:t>Link Analysis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19499-4462-E554-D256-ACD1837E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9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A7C4C-3350-4213-392D-C67555F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2632"/>
            <a:ext cx="10890929" cy="1097280"/>
          </a:xfrm>
        </p:spPr>
        <p:txBody>
          <a:bodyPr/>
          <a:lstStyle/>
          <a:p>
            <a:r>
              <a:rPr lang="en-US" sz="4000" dirty="0"/>
              <a:t>Exploratory Data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844A7-F285-51B7-2A8E-1CB1E17688D7}"/>
              </a:ext>
            </a:extLst>
          </p:cNvPr>
          <p:cNvSpPr txBox="1"/>
          <p:nvPr/>
        </p:nvSpPr>
        <p:spPr>
          <a:xfrm>
            <a:off x="640079" y="2336800"/>
            <a:ext cx="108909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Duplicates :  All </a:t>
            </a:r>
            <a:r>
              <a:rPr lang="en-US" dirty="0"/>
              <a:t>the </a:t>
            </a:r>
            <a:r>
              <a:rPr lang="en-US" b="0" i="0" dirty="0" err="1">
                <a:effectLst/>
              </a:rPr>
              <a:t>dataframes</a:t>
            </a:r>
            <a:r>
              <a:rPr lang="en-US" b="0" i="0" dirty="0">
                <a:effectLst/>
              </a:rPr>
              <a:t> had duplicates. All the duplicates rows were discarded, keeping only the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 to ‘int’ datatypes :</a:t>
            </a:r>
          </a:p>
          <a:p>
            <a:r>
              <a:rPr lang="en-US" b="0" i="0" dirty="0">
                <a:effectLst/>
              </a:rPr>
              <a:t>	1) </a:t>
            </a:r>
            <a:r>
              <a:rPr lang="en-US" dirty="0" err="1"/>
              <a:t>Resale_column</a:t>
            </a:r>
            <a:r>
              <a:rPr lang="en-US" dirty="0"/>
              <a:t> </a:t>
            </a:r>
          </a:p>
          <a:p>
            <a:r>
              <a:rPr lang="en-US" dirty="0"/>
              <a:t>	2) </a:t>
            </a:r>
            <a:r>
              <a:rPr lang="en-US" dirty="0" err="1"/>
              <a:t>F</a:t>
            </a:r>
            <a:r>
              <a:rPr lang="en-US" b="0" i="0" dirty="0" err="1">
                <a:effectLst/>
              </a:rPr>
              <a:t>loor_area_sqm</a:t>
            </a:r>
            <a:r>
              <a:rPr lang="en-US" b="0" i="0" dirty="0">
                <a:effectLst/>
              </a:rPr>
              <a:t> </a:t>
            </a:r>
          </a:p>
          <a:p>
            <a:r>
              <a:rPr lang="en-US" b="0" i="0" dirty="0">
                <a:effectLst/>
              </a:rPr>
              <a:t>	3)</a:t>
            </a:r>
            <a:r>
              <a:rPr lang="en-US" dirty="0"/>
              <a:t> </a:t>
            </a:r>
            <a:r>
              <a:rPr lang="en-US" dirty="0" err="1"/>
              <a:t>remaining_lease</a:t>
            </a:r>
            <a:endParaRPr lang="en-US" dirty="0"/>
          </a:p>
          <a:p>
            <a:endParaRPr lang="en-US" b="0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 ‘road’ abbreviations</a:t>
            </a:r>
            <a:endParaRPr lang="en-US" b="0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 ‘month’ column  to </a:t>
            </a:r>
            <a:r>
              <a:rPr lang="en-US" dirty="0" err="1"/>
              <a:t>month_only</a:t>
            </a:r>
            <a:r>
              <a:rPr lang="en-US" dirty="0"/>
              <a:t> and </a:t>
            </a:r>
            <a:r>
              <a:rPr lang="en-US" dirty="0" err="1"/>
              <a:t>year_only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 ‘</a:t>
            </a:r>
            <a:r>
              <a:rPr lang="en-US" dirty="0" err="1"/>
              <a:t>storey_range</a:t>
            </a:r>
            <a:r>
              <a:rPr lang="en-US" dirty="0"/>
              <a:t>’ to ‘</a:t>
            </a:r>
            <a:r>
              <a:rPr lang="en-US" dirty="0" err="1"/>
              <a:t>storey_min</a:t>
            </a:r>
            <a:r>
              <a:rPr lang="en-US" dirty="0"/>
              <a:t>’ and ‘</a:t>
            </a:r>
            <a:r>
              <a:rPr lang="en-US" dirty="0" err="1"/>
              <a:t>storey_max</a:t>
            </a:r>
            <a:r>
              <a:rPr lang="en-US" dirty="0"/>
              <a:t>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columns created </a:t>
            </a:r>
          </a:p>
          <a:p>
            <a:pPr lvl="1"/>
            <a:r>
              <a:rPr lang="en-US" dirty="0"/>
              <a:t>	1) </a:t>
            </a:r>
            <a:r>
              <a:rPr lang="en-US" dirty="0" err="1"/>
              <a:t>remaining_lease</a:t>
            </a:r>
            <a:endParaRPr lang="en-US" dirty="0"/>
          </a:p>
          <a:p>
            <a:pPr lvl="1"/>
            <a:r>
              <a:rPr lang="en-US" dirty="0"/>
              <a:t>	2) </a:t>
            </a:r>
            <a:r>
              <a:rPr lang="en-US" dirty="0" err="1"/>
              <a:t>floor_area_sqft</a:t>
            </a:r>
            <a:endParaRPr lang="en-US" dirty="0"/>
          </a:p>
          <a:p>
            <a:pPr lvl="1"/>
            <a:r>
              <a:rPr lang="en-US" dirty="0"/>
              <a:t>	3) </a:t>
            </a:r>
            <a:r>
              <a:rPr lang="en-US" dirty="0" err="1"/>
              <a:t>psf</a:t>
            </a:r>
            <a:r>
              <a:rPr lang="en-US" dirty="0"/>
              <a:t> </a:t>
            </a:r>
          </a:p>
          <a:p>
            <a:endParaRPr lang="en-US" b="0" i="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4B52F-A678-5F69-5FD2-B3E097EC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4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2DE4-617E-B094-5E6E-B449C7758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not an end-to-end pipeline.</a:t>
            </a:r>
          </a:p>
          <a:p>
            <a:r>
              <a:rPr lang="en-US" dirty="0"/>
              <a:t>External factors were not taken into account. Such as financial crisis.</a:t>
            </a:r>
          </a:p>
          <a:p>
            <a:r>
              <a:rPr lang="en-US" dirty="0"/>
              <a:t>More complex models were not taken into account as GPU is not available.</a:t>
            </a:r>
          </a:p>
          <a:p>
            <a:r>
              <a:rPr lang="en-US" dirty="0"/>
              <a:t>Stratified data of 1000 rows were used for model training and test. As the training time is long with large dataset.</a:t>
            </a:r>
          </a:p>
          <a:p>
            <a:r>
              <a:rPr lang="en-US" dirty="0"/>
              <a:t>Stratified data of 2000 rows were used for graph analysis. As the training time is long with large dataset.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90943-617E-0498-F020-E7FD6A6C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21ADA6-2D26-D114-5384-83E36B200BD4}"/>
              </a:ext>
            </a:extLst>
          </p:cNvPr>
          <p:cNvSpPr txBox="1">
            <a:spLocks/>
          </p:cNvSpPr>
          <p:nvPr/>
        </p:nvSpPr>
        <p:spPr>
          <a:xfrm>
            <a:off x="640079" y="1092632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Assumptions</a:t>
            </a:r>
          </a:p>
        </p:txBody>
      </p:sp>
    </p:spTree>
    <p:extLst>
      <p:ext uri="{BB962C8B-B14F-4D97-AF65-F5344CB8AC3E}">
        <p14:creationId xmlns:p14="http://schemas.microsoft.com/office/powerpoint/2010/main" val="104976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67BF4-D289-5EB6-AABB-57C4D44E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31602A-4BBC-7612-B308-4346040C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107693"/>
            <a:ext cx="10890929" cy="1097280"/>
          </a:xfrm>
        </p:spPr>
        <p:txBody>
          <a:bodyPr/>
          <a:lstStyle/>
          <a:p>
            <a:r>
              <a:rPr lang="en-US" sz="4000" dirty="0"/>
              <a:t>Model Prediction 1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C2B561-FA04-F212-C96E-87464E658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35661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Once the data preprocessing is complete, next stage is Feature Selection.</a:t>
            </a:r>
          </a:p>
          <a:p>
            <a:r>
              <a:rPr lang="en-US" dirty="0"/>
              <a:t>Feature Selection :</a:t>
            </a:r>
          </a:p>
          <a:p>
            <a:pPr marL="0" indent="0">
              <a:buNone/>
            </a:pPr>
            <a:r>
              <a:rPr lang="en-US" dirty="0"/>
              <a:t>	1) Columns dropped : Month, </a:t>
            </a:r>
            <a:r>
              <a:rPr lang="en-US" dirty="0" err="1"/>
              <a:t>storey_range</a:t>
            </a:r>
            <a:r>
              <a:rPr lang="en-US" dirty="0"/>
              <a:t> and </a:t>
            </a:r>
            <a:r>
              <a:rPr lang="en-US" dirty="0" err="1"/>
              <a:t>psf_temp</a:t>
            </a:r>
            <a:r>
              <a:rPr lang="en-US" dirty="0"/>
              <a:t>. As they have been split.</a:t>
            </a:r>
          </a:p>
          <a:p>
            <a:pPr marL="0" indent="0">
              <a:buNone/>
            </a:pPr>
            <a:r>
              <a:rPr lang="en-US" dirty="0"/>
              <a:t>	2) One Hot encoding : Applied to categorical columns</a:t>
            </a:r>
          </a:p>
          <a:p>
            <a:pPr marL="0" indent="0">
              <a:buNone/>
            </a:pPr>
            <a:r>
              <a:rPr lang="en-US" dirty="0"/>
              <a:t>	3) </a:t>
            </a:r>
            <a:r>
              <a:rPr lang="en-US" dirty="0" err="1"/>
              <a:t>MinMaxScaler</a:t>
            </a:r>
            <a:r>
              <a:rPr lang="en-US" dirty="0"/>
              <a:t> :   Applied to numerical columns</a:t>
            </a:r>
          </a:p>
          <a:p>
            <a:pPr marL="0" indent="0">
              <a:buNone/>
            </a:pPr>
            <a:r>
              <a:rPr lang="en-US" dirty="0"/>
              <a:t>	4) Recursive Feature </a:t>
            </a:r>
            <a:r>
              <a:rPr lang="en-US" dirty="0" err="1"/>
              <a:t>Eliminiation</a:t>
            </a:r>
            <a:r>
              <a:rPr lang="en-US" dirty="0"/>
              <a:t> with Cross-Validation : Using r2 for scoring</a:t>
            </a:r>
          </a:p>
          <a:p>
            <a:r>
              <a:rPr lang="en-US" dirty="0"/>
              <a:t>Model Training : </a:t>
            </a:r>
          </a:p>
          <a:p>
            <a:pPr marL="0" indent="0">
              <a:buNone/>
            </a:pPr>
            <a:r>
              <a:rPr lang="en-US" dirty="0"/>
              <a:t>	1) Model : Random Forest Regressor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1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A99D0-9C91-5C5D-F237-F76BBAA54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Results for Model Prediction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55D80-D8F5-B7B7-01D8-7A58CE522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612" y="4755908"/>
            <a:ext cx="10693909" cy="14815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Conclusion : </a:t>
            </a:r>
          </a:p>
          <a:p>
            <a:r>
              <a:rPr lang="en-US" sz="1600" dirty="0"/>
              <a:t>The model has Test R2 score of 80%. From Actual vs Predicted, the model can predict well. However, at higher prices, it fails to predict accurately. </a:t>
            </a:r>
          </a:p>
          <a:p>
            <a:r>
              <a:rPr lang="en-US" sz="1600" dirty="0"/>
              <a:t>This can be seen from Residuals vs predicted where as predicted </a:t>
            </a:r>
            <a:r>
              <a:rPr lang="en-US" sz="1600" dirty="0" err="1"/>
              <a:t>psf</a:t>
            </a:r>
            <a:r>
              <a:rPr lang="en-US" sz="1600" dirty="0"/>
              <a:t> gets higher, the residual increases.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EDEDE-1604-B426-8AEC-6ADEF4AD0E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3" r="566" b="-1"/>
          <a:stretch>
            <a:fillRect/>
          </a:stretch>
        </p:blipFill>
        <p:spPr>
          <a:xfrm>
            <a:off x="4010278" y="1545995"/>
            <a:ext cx="4019972" cy="330032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FE066-803D-D96F-E070-4EFABBCE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23055B-1BE6-0096-7F01-F45C682C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50" y="1636767"/>
            <a:ext cx="4019972" cy="310385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C2DC47-D473-8584-0923-6C5CD17F5AB7}"/>
              </a:ext>
            </a:extLst>
          </p:cNvPr>
          <p:cNvSpPr txBox="1">
            <a:spLocks/>
          </p:cNvSpPr>
          <p:nvPr/>
        </p:nvSpPr>
        <p:spPr>
          <a:xfrm>
            <a:off x="792479" y="2328436"/>
            <a:ext cx="4261104" cy="284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R2 score </a:t>
            </a:r>
          </a:p>
          <a:p>
            <a:pPr marL="265176" lvl="1" indent="0">
              <a:buFont typeface="Arial" panose="020B0604020202020204" pitchFamily="34" charset="0"/>
              <a:buNone/>
            </a:pPr>
            <a:r>
              <a:rPr lang="en-US"/>
              <a:t>	1) Train : 0.98 </a:t>
            </a:r>
          </a:p>
          <a:p>
            <a:pPr marL="265176" lvl="1" indent="0">
              <a:buFont typeface="Arial" panose="020B0604020202020204" pitchFamily="34" charset="0"/>
              <a:buNone/>
            </a:pPr>
            <a:r>
              <a:rPr lang="en-US"/>
              <a:t>	2) Test : 0.80</a:t>
            </a:r>
          </a:p>
          <a:p>
            <a:r>
              <a:rPr lang="en-US"/>
              <a:t>RMSE </a:t>
            </a:r>
          </a:p>
          <a:p>
            <a:pPr marL="265176" lvl="1" indent="0">
              <a:buFont typeface="Arial" panose="020B0604020202020204" pitchFamily="34" charset="0"/>
              <a:buNone/>
            </a:pPr>
            <a:r>
              <a:rPr lang="en-US"/>
              <a:t>	1) Train : 11.25 </a:t>
            </a:r>
          </a:p>
          <a:p>
            <a:pPr marL="265176" lvl="1" indent="0">
              <a:buFont typeface="Arial" panose="020B0604020202020204" pitchFamily="34" charset="0"/>
              <a:buNone/>
            </a:pPr>
            <a:r>
              <a:rPr lang="en-US"/>
              <a:t>	2) Test : 58.01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B84AB-2588-7AC3-DA65-4CCD109CEBAD}"/>
              </a:ext>
            </a:extLst>
          </p:cNvPr>
          <p:cNvSpPr txBox="1"/>
          <p:nvPr/>
        </p:nvSpPr>
        <p:spPr>
          <a:xfrm>
            <a:off x="4169044" y="56878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2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F43B-EBEF-5FE1-FD20-487674EC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77133"/>
            <a:ext cx="10890929" cy="1097280"/>
          </a:xfrm>
        </p:spPr>
        <p:txBody>
          <a:bodyPr/>
          <a:lstStyle/>
          <a:p>
            <a:r>
              <a:rPr lang="en-US" sz="4000" dirty="0"/>
              <a:t>Model Prediction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7918E-516C-9E2A-7FA6-D3896C682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Objective and requirements</a:t>
            </a:r>
          </a:p>
          <a:p>
            <a:r>
              <a:rPr lang="en-US" dirty="0"/>
              <a:t>Data considerations</a:t>
            </a:r>
          </a:p>
          <a:p>
            <a:pPr lvl="1"/>
            <a:r>
              <a:rPr lang="en-US" dirty="0"/>
              <a:t>Personal Data Protection Act (PDPA)</a:t>
            </a:r>
          </a:p>
          <a:p>
            <a:r>
              <a:rPr lang="en-US" dirty="0"/>
              <a:t>Infrastructure Requirements</a:t>
            </a:r>
          </a:p>
          <a:p>
            <a:r>
              <a:rPr lang="en-US" dirty="0"/>
              <a:t>User Interface</a:t>
            </a:r>
          </a:p>
          <a:p>
            <a:r>
              <a:rPr lang="en-US" dirty="0"/>
              <a:t>Maintenance</a:t>
            </a:r>
          </a:p>
          <a:p>
            <a:r>
              <a:rPr lang="en-US" dirty="0"/>
              <a:t>Cost Benefits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E5DB1-7448-71C2-748C-E42F93DE2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6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FD3F-A599-77CD-BEDF-D034FF72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Link Analysis 1 </a:t>
            </a:r>
            <a:br>
              <a:rPr lang="en-US" sz="40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8F5B2-737A-1BCF-F4DE-E11D97F10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53116"/>
            <a:ext cx="4998720" cy="3566160"/>
          </a:xfrm>
        </p:spPr>
        <p:txBody>
          <a:bodyPr>
            <a:noAutofit/>
          </a:bodyPr>
          <a:lstStyle/>
          <a:p>
            <a:r>
              <a:rPr lang="en-US" sz="1400" dirty="0"/>
              <a:t>Nodes</a:t>
            </a:r>
          </a:p>
          <a:p>
            <a:pPr lvl="1"/>
            <a:r>
              <a:rPr lang="en-US" sz="1400" dirty="0"/>
              <a:t>Properties </a:t>
            </a:r>
          </a:p>
          <a:p>
            <a:pPr lvl="2">
              <a:buFontTx/>
              <a:buChar char="-"/>
            </a:pPr>
            <a:r>
              <a:rPr lang="en-US" sz="1400" dirty="0"/>
              <a:t>Address</a:t>
            </a:r>
          </a:p>
          <a:p>
            <a:pPr lvl="2">
              <a:buFontTx/>
              <a:buChar char="-"/>
            </a:pPr>
            <a:r>
              <a:rPr lang="en-US" sz="1400" dirty="0"/>
              <a:t>Town</a:t>
            </a:r>
          </a:p>
          <a:p>
            <a:pPr lvl="2">
              <a:buFontTx/>
              <a:buChar char="-"/>
            </a:pPr>
            <a:r>
              <a:rPr lang="en-US" sz="1400" dirty="0"/>
              <a:t>Road</a:t>
            </a:r>
          </a:p>
          <a:p>
            <a:pPr lvl="2">
              <a:buFontTx/>
              <a:buChar char="-"/>
            </a:pPr>
            <a:r>
              <a:rPr lang="en-US" sz="1400" dirty="0"/>
              <a:t>Flat type</a:t>
            </a:r>
          </a:p>
          <a:p>
            <a:pPr lvl="2">
              <a:buFontTx/>
              <a:buChar char="-"/>
            </a:pPr>
            <a:r>
              <a:rPr lang="en-US" sz="1400" dirty="0"/>
              <a:t>Floor Area </a:t>
            </a:r>
            <a:r>
              <a:rPr lang="en-US" sz="1400" dirty="0" err="1"/>
              <a:t>Sqft</a:t>
            </a:r>
            <a:endParaRPr lang="en-US" sz="1400" dirty="0"/>
          </a:p>
          <a:p>
            <a:pPr lvl="2">
              <a:buFontTx/>
              <a:buChar char="-"/>
            </a:pPr>
            <a:r>
              <a:rPr lang="en-US" sz="1400" dirty="0"/>
              <a:t>Remaining lease</a:t>
            </a:r>
          </a:p>
          <a:p>
            <a:pPr lvl="2">
              <a:buFontTx/>
              <a:buChar char="-"/>
            </a:pPr>
            <a:r>
              <a:rPr lang="en-US" sz="1400" dirty="0"/>
              <a:t>Resale price</a:t>
            </a:r>
          </a:p>
          <a:p>
            <a:pPr lvl="2">
              <a:buFontTx/>
              <a:buChar char="-"/>
            </a:pPr>
            <a:r>
              <a:rPr lang="en-US" sz="1400" dirty="0" err="1"/>
              <a:t>Psf</a:t>
            </a:r>
            <a:endParaRPr lang="en-US" sz="1400" dirty="0"/>
          </a:p>
          <a:p>
            <a:pPr lvl="2">
              <a:buFontTx/>
              <a:buChar char="-"/>
            </a:pPr>
            <a:r>
              <a:rPr lang="en-US" sz="1400" dirty="0"/>
              <a:t>Year only </a:t>
            </a:r>
          </a:p>
          <a:p>
            <a:pPr lvl="2">
              <a:buFontTx/>
              <a:buChar char="-"/>
            </a:pPr>
            <a:r>
              <a:rPr lang="en-US" sz="1400" dirty="0"/>
              <a:t>Month </a:t>
            </a:r>
          </a:p>
          <a:p>
            <a:pPr lvl="2">
              <a:buFontTx/>
              <a:buChar char="-"/>
            </a:pPr>
            <a:r>
              <a:rPr lang="en-US" sz="1400" dirty="0" err="1"/>
              <a:t>Storey</a:t>
            </a:r>
            <a:r>
              <a:rPr lang="en-US" sz="1400" dirty="0"/>
              <a:t> Min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B0887-6D2A-9CEA-7255-F5078922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0B8E38-5EF3-A5B2-591D-DA06CFCD99F2}"/>
              </a:ext>
            </a:extLst>
          </p:cNvPr>
          <p:cNvSpPr txBox="1">
            <a:spLocks/>
          </p:cNvSpPr>
          <p:nvPr/>
        </p:nvSpPr>
        <p:spPr>
          <a:xfrm>
            <a:off x="5985164" y="2153116"/>
            <a:ext cx="5109556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Edges</a:t>
            </a:r>
          </a:p>
          <a:p>
            <a:pPr lvl="1"/>
            <a:r>
              <a:rPr lang="en-US" dirty="0"/>
              <a:t>Reasons </a:t>
            </a:r>
          </a:p>
          <a:p>
            <a:pPr lvl="2">
              <a:buFontTx/>
              <a:buChar char="-"/>
            </a:pPr>
            <a:r>
              <a:rPr lang="en-US" dirty="0"/>
              <a:t>Same town ( weight = 1)</a:t>
            </a:r>
          </a:p>
          <a:p>
            <a:pPr lvl="2">
              <a:buFontTx/>
              <a:buChar char="-"/>
            </a:pPr>
            <a:r>
              <a:rPr lang="en-US" dirty="0"/>
              <a:t>Same flat type( weight = 2)</a:t>
            </a:r>
          </a:p>
          <a:p>
            <a:pPr lvl="2">
              <a:buFontTx/>
              <a:buChar char="-"/>
            </a:pPr>
            <a:r>
              <a:rPr lang="en-US" dirty="0"/>
              <a:t>Same road( weight = 3)</a:t>
            </a:r>
          </a:p>
          <a:p>
            <a:pPr lvl="2">
              <a:buFontTx/>
              <a:buChar char="-"/>
            </a:pPr>
            <a:r>
              <a:rPr lang="en-US" dirty="0"/>
              <a:t>Similar lease( weight = 1)</a:t>
            </a:r>
          </a:p>
        </p:txBody>
      </p:sp>
    </p:spTree>
    <p:extLst>
      <p:ext uri="{BB962C8B-B14F-4D97-AF65-F5344CB8AC3E}">
        <p14:creationId xmlns:p14="http://schemas.microsoft.com/office/powerpoint/2010/main" val="238362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CC00-236E-D948-3A20-E30CE684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Link Analysis 1 Result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FE8AE-5F8C-ADD7-58D4-C02F8988C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3986054"/>
            <a:ext cx="10890928" cy="2562351"/>
          </a:xfrm>
        </p:spPr>
        <p:txBody>
          <a:bodyPr>
            <a:normAutofit/>
          </a:bodyPr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effectLst/>
              </a:rPr>
              <a:t>Connected Components (Group of Nodes where every node can reach every other)- </a:t>
            </a:r>
            <a:r>
              <a:rPr lang="en-US" sz="1050" b="0" dirty="0">
                <a:effectLst/>
              </a:rPr>
              <a:t>Largest components has about 95 components , indicating a dominant cluster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1050" b="0" dirty="0">
                <a:effectLst/>
              </a:rPr>
              <a:t>- The others shown in the graph indicates many smaller independent subgraph.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1050" b="0" dirty="0">
                <a:effectLst/>
              </a:rPr>
              <a:t>- More time is needed to investigate the largest component.</a:t>
            </a:r>
            <a:br>
              <a:rPr lang="en-US" sz="1050" b="0" dirty="0">
                <a:effectLst/>
              </a:rPr>
            </a:br>
            <a:br>
              <a:rPr lang="en-US" sz="1050" b="0" dirty="0">
                <a:effectLst/>
              </a:rPr>
            </a:br>
            <a:r>
              <a:rPr lang="en-US" sz="1050" b="1" dirty="0">
                <a:effectLst/>
              </a:rPr>
              <a:t>Degree Distribution (Histogram of node degrees)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1050" b="0" dirty="0">
                <a:effectLst/>
              </a:rPr>
              <a:t>- Indicates how many connections each node have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1050" b="0" dirty="0">
                <a:effectLst/>
              </a:rPr>
              <a:t>- The mean is about 34.3 connections per node.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1050" b="0" dirty="0">
                <a:effectLst/>
              </a:rPr>
              <a:t>- The distribution is wide and skewed. Indicating many have lower number of connections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1050" b="0" dirty="0">
                <a:effectLst/>
              </a:rPr>
              <a:t>- A small number of nodes have very high number of connections</a:t>
            </a:r>
          </a:p>
          <a:p>
            <a:endParaRPr lang="en-US" sz="10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0FD39-208A-3208-E189-055FDA64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319A43-608F-EE97-8BC8-165242206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631" y="2056031"/>
            <a:ext cx="5298737" cy="188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44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248F-927A-8752-CD6C-F3426B3D2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i="0" dirty="0">
                <a:effectLst/>
              </a:rPr>
              <a:t>ALGORITHM 1: PageRank</a:t>
            </a:r>
          </a:p>
          <a:p>
            <a:pPr marL="265176" lvl="1" indent="0">
              <a:buNone/>
            </a:pPr>
            <a:r>
              <a:rPr lang="en-US" sz="1200" i="0" dirty="0">
                <a:effectLst/>
              </a:rPr>
              <a:t>	-</a:t>
            </a:r>
            <a:r>
              <a:rPr lang="en-US" sz="1200" b="0" i="0" dirty="0">
                <a:effectLst/>
              </a:rPr>
              <a:t>Interpretation: Properties with high PageRank scores are 'typical' market representatives. They share multiple characteristics with many other properties, making them good reference points for price comparisons and market analysis.</a:t>
            </a:r>
            <a:endParaRPr lang="en-US" sz="1200" i="0" dirty="0">
              <a:effectLst/>
            </a:endParaRPr>
          </a:p>
          <a:p>
            <a:r>
              <a:rPr lang="en-US" sz="1600" i="0" dirty="0">
                <a:effectLst/>
              </a:rPr>
              <a:t>ALGORITHM 2: Community Detection (Greedy Modularity)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400" dirty="0"/>
              <a:t>-</a:t>
            </a:r>
            <a:r>
              <a:rPr lang="en-US" sz="1200" b="0" i="0" dirty="0">
                <a:effectLst/>
              </a:rPr>
              <a:t>Communities represent clusters of similar properties 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b="0" i="0" dirty="0">
                <a:effectLst/>
              </a:rPr>
              <a:t>- Properties in the same community share multiple characteristics 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b="0" i="0" dirty="0">
                <a:effectLst/>
              </a:rPr>
              <a:t>- This helps identify distinct market segments</a:t>
            </a:r>
            <a:r>
              <a:rPr lang="en-US" sz="1400" dirty="0"/>
              <a:t>	</a:t>
            </a:r>
            <a:endParaRPr lang="en-US" sz="1400" i="0" dirty="0">
              <a:effectLst/>
            </a:endParaRPr>
          </a:p>
          <a:p>
            <a:r>
              <a:rPr lang="en-US" sz="1600" b="0" i="0" dirty="0">
                <a:effectLst/>
              </a:rPr>
              <a:t>ALGORITHM 3: Betweenness Centrality</a:t>
            </a:r>
          </a:p>
          <a:p>
            <a:pPr marL="0" indent="0">
              <a:buNone/>
            </a:pPr>
            <a:r>
              <a:rPr lang="en-US" sz="1600" dirty="0"/>
              <a:t>	-</a:t>
            </a:r>
            <a:r>
              <a:rPr lang="en-US" sz="1200" b="0" i="0" dirty="0">
                <a:effectLst/>
              </a:rPr>
              <a:t>High betweenness means a property 'bridges' different market </a:t>
            </a:r>
            <a:r>
              <a:rPr lang="en-US" sz="1200" dirty="0"/>
              <a:t>segments </a:t>
            </a:r>
          </a:p>
          <a:p>
            <a:pPr marL="0" indent="0">
              <a:buNone/>
            </a:pPr>
            <a:r>
              <a:rPr lang="en-US" sz="1200" dirty="0"/>
              <a:t>	-These properties </a:t>
            </a:r>
            <a:r>
              <a:rPr lang="en-US" sz="1200" b="0" i="0" dirty="0">
                <a:effectLst/>
              </a:rPr>
              <a:t>share characteristics with diverse property types </a:t>
            </a:r>
          </a:p>
          <a:p>
            <a:pPr marL="0" indent="0">
              <a:buNone/>
            </a:pPr>
            <a:r>
              <a:rPr lang="en-US" sz="1200" b="0" i="0" dirty="0">
                <a:effectLst/>
              </a:rPr>
              <a:t>	- They can serve as transition points between different market segments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2F862-6F5E-F558-7B9C-C6120B0B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1B0928-B4E2-F8D0-0287-4E79289E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Link Analysis 2 </a:t>
            </a:r>
            <a:br>
              <a:rPr lang="en-US" sz="4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46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7810-2D81-AB8F-0EFE-681C24BB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Strategy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EADBC-D299-E5ED-78AE-0F20601E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570020-981B-15E1-6A58-3DA99B411D1F}"/>
              </a:ext>
            </a:extLst>
          </p:cNvPr>
          <p:cNvSpPr txBox="1">
            <a:spLocks/>
          </p:cNvSpPr>
          <p:nvPr/>
        </p:nvSpPr>
        <p:spPr>
          <a:xfrm>
            <a:off x="779032" y="2411080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50"/>
              </a:lnSpc>
            </a:pPr>
            <a:r>
              <a:rPr lang="en-US" sz="1800" b="1" dirty="0"/>
              <a:t>Increase supply of smaller, affordable flat types in high </a:t>
            </a:r>
            <a:r>
              <a:rPr lang="en-US" sz="1800" b="1" dirty="0" err="1"/>
              <a:t>psf</a:t>
            </a:r>
            <a:r>
              <a:rPr lang="en-US" sz="1800" b="1" dirty="0"/>
              <a:t> town</a:t>
            </a:r>
            <a:br>
              <a:rPr lang="en-US" sz="1800" dirty="0"/>
            </a:br>
            <a:endParaRPr lang="en-US" sz="1800" dirty="0"/>
          </a:p>
          <a:p>
            <a:pPr>
              <a:lnSpc>
                <a:spcPts val="1350"/>
              </a:lnSpc>
            </a:pPr>
            <a:r>
              <a:rPr lang="en-US" sz="1800" b="1" dirty="0"/>
              <a:t>Smaller BTO launches in non-matured estates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540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5D10-101B-26D3-BEA2-6976E4C4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2632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Future Exploration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1EEDB-5AA5-30BF-F29D-96A59A940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– Try with other models such as </a:t>
            </a:r>
            <a:r>
              <a:rPr lang="en-US" dirty="0" err="1"/>
              <a:t>XGBoost</a:t>
            </a:r>
            <a:r>
              <a:rPr lang="en-US" dirty="0"/>
              <a:t>, linear regression or Elastic Net Regression</a:t>
            </a:r>
          </a:p>
          <a:p>
            <a:r>
              <a:rPr lang="en-US" dirty="0"/>
              <a:t>Model Parameters – Use </a:t>
            </a:r>
            <a:r>
              <a:rPr lang="en-US" dirty="0" err="1"/>
              <a:t>GridSearchCV</a:t>
            </a:r>
            <a:r>
              <a:rPr lang="en-US" dirty="0"/>
              <a:t> to find the optimal parameters to further improve the results</a:t>
            </a:r>
          </a:p>
          <a:p>
            <a:r>
              <a:rPr lang="en-US" dirty="0" err="1"/>
              <a:t>PyViz</a:t>
            </a:r>
            <a:r>
              <a:rPr lang="en-US" dirty="0"/>
              <a:t> – </a:t>
            </a:r>
            <a:r>
              <a:rPr lang="en-US" dirty="0" err="1"/>
              <a:t>Pyviz</a:t>
            </a:r>
            <a:r>
              <a:rPr lang="en-US" dirty="0"/>
              <a:t> to further visualize the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62D6A-30C6-B46D-F3DD-1B9599C9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7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CFDD-FD17-9559-ECD1-137318DF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693" y="2880360"/>
            <a:ext cx="10890929" cy="109728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1D3B5-7153-AAF2-A485-275108259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121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1812</TotalTime>
  <Words>761</Words>
  <Application>Microsoft Macintosh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Grandview Display</vt:lpstr>
      <vt:lpstr>DashVTI</vt:lpstr>
      <vt:lpstr>Technical Assessment</vt:lpstr>
      <vt:lpstr>Tasks</vt:lpstr>
      <vt:lpstr>Exploratory Data Analysis</vt:lpstr>
      <vt:lpstr>PowerPoint Presentation</vt:lpstr>
      <vt:lpstr>Model Prediction 1 </vt:lpstr>
      <vt:lpstr>Results for Model Prediction </vt:lpstr>
      <vt:lpstr>Model Prediction 2 </vt:lpstr>
      <vt:lpstr>Link Analysis 1  </vt:lpstr>
      <vt:lpstr>Link Analysis 1 Result</vt:lpstr>
      <vt:lpstr>Link Analysis 2  </vt:lpstr>
      <vt:lpstr>Proposed Strategy </vt:lpstr>
      <vt:lpstr>Future Exploration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Ahshik</dc:creator>
  <cp:lastModifiedBy>Mohamed Ahshik</cp:lastModifiedBy>
  <cp:revision>10</cp:revision>
  <dcterms:created xsi:type="dcterms:W3CDTF">2025-10-21T15:11:27Z</dcterms:created>
  <dcterms:modified xsi:type="dcterms:W3CDTF">2025-12-22T15:03:13Z</dcterms:modified>
</cp:coreProperties>
</file>